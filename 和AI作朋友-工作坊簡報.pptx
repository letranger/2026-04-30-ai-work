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4648" y="146304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6400" b="1">
                <a:solidFill>
                  <a:srgbClr val="FFFFFF"/>
                </a:solidFill>
                <a:latin typeface="Helvetica Neue"/>
              </a:defRPr>
            </a:pPr>
            <a:r>
              <a:t>和 AI 作朋友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3200" b="0">
                <a:solidFill>
                  <a:srgbClr val="00D2FF"/>
                </a:solidFill>
                <a:latin typeface="Helvetica Neue"/>
              </a:defRPr>
            </a:pPr>
            <a:r>
              <a:t>高中生的 AI 工具箱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2000" b="0">
                <a:solidFill>
                  <a:srgbClr val="9999AA"/>
                </a:solidFill>
                <a:latin typeface="Helvetica Neue"/>
              </a:defRPr>
            </a:pPr>
            <a:r>
              <a:t>顏永進  ｜  2026.04.30  ｜  雲林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937760"/>
            <a:ext cx="1371600" cy="13716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5486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1800" b="0">
                <a:solidFill>
                  <a:srgbClr val="9999AA"/>
                </a:solidFill>
                <a:latin typeface="Helvetica Neue"/>
              </a:defRPr>
            </a:pPr>
            <a:r>
              <a:t>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1400" b="0">
                <a:solidFill>
                  <a:srgbClr val="BBBBCC"/>
                </a:solidFill>
                <a:latin typeface="Helvetica Neue"/>
              </a:defRPr>
            </a:pPr>
            <a:r>
              <a:t>簡報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5212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1">
                <a:solidFill>
                  <a:srgbClr val="00D2FF"/>
                </a:solidFill>
                <a:latin typeface="Helvetica Neue"/>
              </a:defRPr>
            </a:pPr>
            <a:r>
              <a:t>is.gd/1rLH3E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4937760"/>
            <a:ext cx="1371600" cy="13716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5486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1800" b="0">
                <a:solidFill>
                  <a:srgbClr val="9999AA"/>
                </a:solidFill>
                <a:latin typeface="Helvetica Neue"/>
              </a:defRPr>
            </a:pPr>
            <a:r>
              <a:t>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1400" b="0">
                <a:solidFill>
                  <a:srgbClr val="BBBBCC"/>
                </a:solidFill>
                <a:latin typeface="Helvetica Neue"/>
              </a:defRPr>
            </a:pPr>
            <a:r>
              <a:t>教學網頁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5212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1">
                <a:solidFill>
                  <a:srgbClr val="00D2FF"/>
                </a:solidFill>
                <a:latin typeface="Helvetica Neue"/>
              </a:defRPr>
            </a:pPr>
            <a:r>
              <a:t>is.gd/tENFQN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今天要做什麼？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0">
                <a:solidFill>
                  <a:srgbClr val="BBBBCC"/>
                </a:solidFill>
                <a:latin typeface="Helvetica Neue"/>
              </a:defRPr>
            </a:pPr>
            <a:r>
              <a:t>用 AI 工具，從零完成一份台灣史小論文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600" b="1">
                <a:solidFill>
                  <a:srgbClr val="00D2FF"/>
                </a:solidFill>
                <a:latin typeface="Helvetica Neue"/>
              </a:defRPr>
            </a:pPr>
            <a:r>
              <a:t>主題：為什麼日本人選雲林蓋糖廠？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6350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00D2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22783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NotebookLM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2278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0">
                <a:solidFill>
                  <a:srgbClr val="BBBBCC"/>
                </a:solidFill>
                <a:latin typeface="Helvetica Neue"/>
              </a:defRPr>
            </a:pPr>
            <a:r>
              <a:t>研究筆記（含出處）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67328"/>
            <a:ext cx="10515600" cy="54864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767328"/>
            <a:ext cx="63500" cy="5486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587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FF6B6B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8862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Napkin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86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0">
                <a:solidFill>
                  <a:srgbClr val="BBBBCC"/>
                </a:solidFill>
                <a:latin typeface="Helvetica Neue"/>
              </a:defRPr>
            </a:pPr>
            <a:r>
              <a:t>因果關係圖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25696"/>
            <a:ext cx="10515600" cy="54864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425696"/>
            <a:ext cx="63500" cy="54864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4ECB71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54456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5445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0">
                <a:solidFill>
                  <a:srgbClr val="BBBBCC"/>
                </a:solidFill>
                <a:latin typeface="Helvetica Neue"/>
              </a:defRPr>
            </a:pPr>
            <a:r>
              <a:t>小論文 Word 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084064"/>
            <a:ext cx="10515600" cy="54864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084064"/>
            <a:ext cx="63500" cy="548640"/>
          </a:xfrm>
          <a:prstGeom prst="rect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17550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FFAA33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0293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ChatGPT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2029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0">
                <a:solidFill>
                  <a:srgbClr val="BBBBCC"/>
                </a:solidFill>
                <a:latin typeface="Helvetica Neue"/>
              </a:defRPr>
            </a:pPr>
            <a:r>
              <a:t>改好的反思段落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742431"/>
            <a:ext cx="10515600" cy="54864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742431"/>
            <a:ext cx="63500" cy="54864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8338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CC66FF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861303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Gamma 或 Claude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861303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0">
                <a:solidFill>
                  <a:srgbClr val="BBBBCC"/>
                </a:solidFill>
                <a:latin typeface="Helvetica Neue"/>
              </a:defRPr>
            </a:pPr>
            <a:r>
              <a:t>報告簡報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00D2FF"/>
                </a:solidFill>
                <a:latin typeface="Helvetica Neue"/>
              </a:defRPr>
            </a:pPr>
            <a: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6600" b="1">
                <a:solidFill>
                  <a:srgbClr val="FFFFFF"/>
                </a:solidFill>
                <a:latin typeface="Helvetica Neue"/>
              </a:defRPr>
            </a:pPr>
            <a:r>
              <a:t>NotebookLM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400" b="0">
                <a:solidFill>
                  <a:srgbClr val="BBBBCC"/>
                </a:solidFill>
                <a:latin typeface="Helvetica Neue"/>
              </a:defRPr>
            </a:pPr>
            <a:r>
              <a:t>餵素材、問問題、產出研究筆記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NotebookLM 怎麼用？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00D2FF"/>
                </a:solidFill>
                <a:latin typeface="Helvetica Neue"/>
              </a:defRPr>
            </a:pPr>
            <a:r>
              <a:t>上傳素材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defRPr sz="1800" b="0">
                <a:solidFill>
                  <a:srgbClr val="BBBBCC"/>
                </a:solidFill>
                <a:latin typeface="Helvetica Neue"/>
              </a:defRPr>
            </a:pPr>
            <a:r>
              <a:t>把文章存成 PDF，上傳到 NotebookLM</a:t>
            </a:r>
            <a:br/>
            <a:br/>
            <a:r>
              <a:t>素材清單見教學網頁底部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00D2FF"/>
                </a:solidFill>
                <a:latin typeface="Helvetica Neue"/>
              </a:defRPr>
            </a:pPr>
            <a:r>
              <a:t>問問題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21208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60000"/>
              </a:lnSpc>
              <a:spcAft>
                <a:spcPts val="720"/>
              </a:spcAft>
            </a:pPr>
            <a:r>
              <a:rPr sz="1800" b="1">
                <a:solidFill>
                  <a:srgbClr val="00D2FF"/>
                </a:solidFill>
                <a:latin typeface="Helvetica Neue"/>
              </a:rPr>
              <a:t>▸  </a:t>
            </a:r>
            <a:r>
              <a:rPr sz="1800">
                <a:solidFill>
                  <a:srgbClr val="BBBBCC"/>
                </a:solidFill>
                <a:latin typeface="Helvetica Neue"/>
              </a:rPr>
              <a:t>日本人為什麼選雲林？</a:t>
            </a:r>
          </a:p>
          <a:p>
            <a:pPr>
              <a:lnSpc>
                <a:spcPct val="160000"/>
              </a:lnSpc>
              <a:spcAft>
                <a:spcPts val="720"/>
              </a:spcAft>
            </a:pPr>
            <a:r>
              <a:rPr sz="1800" b="1">
                <a:solidFill>
                  <a:srgbClr val="00D2FF"/>
                </a:solidFill>
                <a:latin typeface="Helvetica Neue"/>
              </a:rPr>
              <a:t>▸  </a:t>
            </a:r>
            <a:r>
              <a:rPr sz="1800">
                <a:solidFill>
                  <a:srgbClr val="BBBBCC"/>
                </a:solidFill>
                <a:latin typeface="Helvetica Neue"/>
              </a:rPr>
              <a:t>戊戌大水災跟糖廠的關係？</a:t>
            </a:r>
          </a:p>
          <a:p>
            <a:pPr>
              <a:lnSpc>
                <a:spcPct val="160000"/>
              </a:lnSpc>
              <a:spcAft>
                <a:spcPts val="720"/>
              </a:spcAft>
            </a:pPr>
            <a:r>
              <a:rPr sz="1800" b="1">
                <a:solidFill>
                  <a:srgbClr val="00D2FF"/>
                </a:solidFill>
                <a:latin typeface="Helvetica Neue"/>
              </a:rPr>
              <a:t>▸  </a:t>
            </a:r>
            <a:r>
              <a:rPr sz="1800">
                <a:solidFill>
                  <a:srgbClr val="BBBBCC"/>
                </a:solidFill>
                <a:latin typeface="Helvetica Neue"/>
              </a:rPr>
              <a:t>虎尾 vs. 橋頭有什麼不同？</a:t>
            </a:r>
          </a:p>
          <a:p>
            <a:pPr>
              <a:lnSpc>
                <a:spcPct val="160000"/>
              </a:lnSpc>
              <a:spcAft>
                <a:spcPts val="720"/>
              </a:spcAft>
            </a:pPr>
            <a:r>
              <a:rPr sz="1800" b="1">
                <a:solidFill>
                  <a:srgbClr val="00D2FF"/>
                </a:solidFill>
                <a:latin typeface="Helvetica Neue"/>
              </a:rPr>
              <a:t>▸  </a:t>
            </a:r>
            <a:r>
              <a:rPr sz="1800">
                <a:solidFill>
                  <a:srgbClr val="BBBBCC"/>
                </a:solidFill>
                <a:latin typeface="Helvetica Neue"/>
              </a:rPr>
              <a:t>小論文大綱可以怎麼寫？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最後一步：請它幫你打包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0">
                <a:solidFill>
                  <a:srgbClr val="BBBBCC"/>
                </a:solidFill>
                <a:latin typeface="Helvetica Neue"/>
              </a:defRPr>
            </a:pPr>
            <a:r>
              <a:t>問完所有問題後，貼這段指令：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515600" cy="22860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63500" cy="228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1498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600" b="0">
                <a:solidFill>
                  <a:srgbClr val="FFFFFF"/>
                </a:solidFill>
                <a:latin typeface="Helvetica Neue"/>
              </a:defRPr>
            </a:pPr>
            <a:r>
              <a:t>請把我們剛才所有對話整合成一份「研究筆記」：</a:t>
            </a:r>
            <a:br/>
            <a:br/>
            <a:r>
              <a:t>一、研究問題</a:t>
            </a:r>
            <a:br/>
            <a:r>
              <a:t>二、關鍵發現（每點標明出處）</a:t>
            </a:r>
            <a:br/>
            <a:r>
              <a:t>三、比較分析</a:t>
            </a:r>
            <a:br/>
            <a:r>
              <a:t>四、建議大綱</a:t>
            </a:r>
            <a:br/>
            <a:r>
              <a:t>五、參考資料清單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937760"/>
            <a:ext cx="10515600" cy="82296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937760"/>
            <a:ext cx="63500" cy="82296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0">
                <a:solidFill>
                  <a:srgbClr val="FFFFFF"/>
                </a:solidFill>
                <a:latin typeface="Helvetica Neue"/>
              </a:defRPr>
            </a:pPr>
            <a:r>
              <a:t>▸  只要複製這一份，就是等一下餵給 Claude 的全部素材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FF6B6B"/>
                </a:solidFill>
                <a:latin typeface="Helvetica Neue"/>
              </a:defRPr>
            </a:pPr>
            <a: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6600" b="1">
                <a:solidFill>
                  <a:srgbClr val="FFFFFF"/>
                </a:solidFill>
                <a:latin typeface="Helvetica Neue"/>
              </a:defRPr>
            </a:pPr>
            <a:r>
              <a:t>Napkin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400" b="0">
                <a:solidFill>
                  <a:srgbClr val="BBBBCC"/>
                </a:solidFill>
                <a:latin typeface="Helvetica Neue"/>
              </a:defRPr>
            </a:pPr>
            <a:r>
              <a:t>把文字變成圖表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Napkin——畫一張圖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0">
                <a:solidFill>
                  <a:srgbClr val="BBBBCC"/>
                </a:solidFill>
                <a:latin typeface="Helvetica Neue"/>
              </a:defRPr>
            </a:pPr>
            <a:r>
              <a:t>把研究重點貼進 napkin.ai，自動生成圖表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515600" cy="30175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63500" cy="3017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1498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500" b="0">
                <a:solidFill>
                  <a:srgbClr val="FFFFFF"/>
                </a:solidFill>
                <a:latin typeface="Helvetica Neue"/>
              </a:defRPr>
            </a:pPr>
            <a:r>
              <a:t>日本選擇在雲林虎尾設立糖廠的原因：</a:t>
            </a:r>
            <a:br/>
            <a:br/>
            <a:r>
              <a:t>1. 天災創造機會：1897 戊戌大水災沖出大量溪埔地</a:t>
            </a:r>
            <a:br/>
            <a:r>
              <a:t>2. 自然條件適合：雲林平原日照充足、雨量適中</a:t>
            </a:r>
            <a:br/>
            <a:r>
              <a:t>3. 政策推動：1902 年糖業獎勵規則</a:t>
            </a:r>
            <a:br/>
            <a:r>
              <a:t>4. 企業家眼光：鈴木藤三郎，1906 年設廠</a:t>
            </a:r>
            <a:br/>
            <a:r>
              <a:t>5. 國家需求：日俄戰爭後需要糖的自給自足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1">
                <a:solidFill>
                  <a:srgbClr val="00D2FF"/>
                </a:solidFill>
                <a:latin typeface="Helvetica Neue"/>
              </a:defRPr>
            </a:pPr>
            <a:r>
              <a:t>→ 產出的圖放進小論文或簡報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4ECB71"/>
                </a:solidFill>
                <a:latin typeface="Helvetica Neue"/>
              </a:defRPr>
            </a:pPr>
            <a: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6600" b="1">
                <a:solidFill>
                  <a:srgbClr val="FFFFFF"/>
                </a:solidFill>
                <a:latin typeface="Helvetica Neue"/>
              </a:defRPr>
            </a:pPr>
            <a:r>
              <a:t>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400" b="0">
                <a:solidFill>
                  <a:srgbClr val="BBBBCC"/>
                </a:solidFill>
                <a:latin typeface="Helvetica Neue"/>
              </a:defRPr>
            </a:pPr>
            <a:r>
              <a:t>生成小論文 Word 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Claude——生成 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0">
                <a:solidFill>
                  <a:srgbClr val="BBBBCC"/>
                </a:solidFill>
                <a:latin typeface="Helvetica Neue"/>
              </a:defRPr>
            </a:pPr>
            <a:r>
              <a:t>打開 claude.ai（免費帳號），依序貼入：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377440"/>
            <a:ext cx="411480" cy="4114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23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0">
                <a:solidFill>
                  <a:srgbClr val="FFFFFF"/>
                </a:solidFill>
                <a:latin typeface="Helvetica Neue"/>
              </a:defRPr>
            </a:pPr>
            <a:r>
              <a:t>小論文格式規範（見教學網頁附錄）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154680"/>
            <a:ext cx="411480" cy="4114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0">
                <a:solidFill>
                  <a:srgbClr val="FFFFFF"/>
                </a:solidFill>
                <a:latin typeface="Helvetica Neue"/>
              </a:defRPr>
            </a:pPr>
            <a:r>
              <a:t>Step 1 的研究筆記（含出處）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77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0">
                <a:solidFill>
                  <a:srgbClr val="FFFFFF"/>
                </a:solidFill>
                <a:latin typeface="Helvetica Neue"/>
              </a:defRPr>
            </a:pPr>
            <a:r>
              <a:t>指令：「整理成小論文，輸出 Word 檔」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120640"/>
            <a:ext cx="10515600" cy="82296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5120640"/>
            <a:ext cx="63500" cy="822960"/>
          </a:xfrm>
          <a:prstGeom prst="rect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0">
                <a:solidFill>
                  <a:srgbClr val="FFFFFF"/>
                </a:solidFill>
                <a:latin typeface="Helvetica Neue"/>
              </a:defRPr>
            </a:pPr>
            <a:r>
              <a:t>▸  Claude 生成 Artifact → 點「下載」→ 拿到 .docx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下載後一定要做的事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3383280" cy="32004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38328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換成你的口吻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1600" b="0">
                <a:solidFill>
                  <a:srgbClr val="BBBBCC"/>
                </a:solidFill>
                <a:latin typeface="Helvetica Neue"/>
              </a:defRPr>
            </a:pPr>
            <a:r>
              <a:t>教授看得出 AI 味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286000"/>
            <a:ext cx="3383280" cy="32004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3383280" cy="50800"/>
          </a:xfrm>
          <a:prstGeom prst="rect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7432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檢查事實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657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1600" b="0">
                <a:solidFill>
                  <a:srgbClr val="BBBBCC"/>
                </a:solidFill>
                <a:latin typeface="Helvetica Neue"/>
              </a:defRPr>
            </a:pPr>
            <a:r>
              <a:t>人名、年份、事件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286000"/>
            <a:ext cx="3383280" cy="32004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286000"/>
            <a:ext cx="3383280" cy="508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7432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反思先留著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1600" b="0">
                <a:solidFill>
                  <a:srgbClr val="BBBBCC"/>
                </a:solidFill>
                <a:latin typeface="Helvetica Neue"/>
              </a:defRPr>
            </a:pPr>
            <a:r>
              <a:t>下一步會改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FFAA33"/>
                </a:solidFill>
                <a:latin typeface="Helvetica Neue"/>
              </a:defRPr>
            </a:pPr>
            <a: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6600" b="1">
                <a:solidFill>
                  <a:srgbClr val="FFFFFF"/>
                </a:solidFill>
                <a:latin typeface="Helvetica Neue"/>
              </a:defRPr>
            </a:pPr>
            <a:r>
              <a:t>ChatGPT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400" b="0">
                <a:solidFill>
                  <a:srgbClr val="BBBBCC"/>
                </a:solidFill>
                <a:latin typeface="Helvetica Neue"/>
              </a:defRPr>
            </a:pPr>
            <a:r>
              <a:t>用 AI 當教練改反思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好 prompt vs. 爛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515600" cy="9144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63500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400" b="1">
                <a:solidFill>
                  <a:srgbClr val="FF6B6B"/>
                </a:solidFill>
                <a:latin typeface="Helvetica Neue"/>
              </a:defRPr>
            </a:pPr>
            <a:r>
              <a:t>✗  爛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600" b="0">
                <a:solidFill>
                  <a:srgbClr val="FFFFFF"/>
                </a:solidFill>
                <a:latin typeface="Helvetica Neue"/>
              </a:defRPr>
            </a:pPr>
            <a:r>
              <a:t>「幫我寫一段學習歷程反思」  →  罐頭、流水帳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10515600" cy="246888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63500" cy="246888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400" b="1">
                <a:solidFill>
                  <a:srgbClr val="4ECB71"/>
                </a:solidFill>
                <a:latin typeface="Helvetica Neue"/>
              </a:defRPr>
            </a:pPr>
            <a:r>
              <a:t>✓  好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101498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500" b="0">
                <a:solidFill>
                  <a:srgbClr val="FFFFFF"/>
                </a:solidFill>
                <a:latin typeface="Helvetica Neue"/>
              </a:defRPr>
            </a:pPr>
            <a:r>
              <a:t>我住雲林，常經過虎尾糖廠，以前只覺得是老地方。研究後才知道日本人選雲林不是巧合，是一場水災沖出了空地。幫我用「從不在意到驚訝」的轉變寫反思，像高中生寫的，300 字以內。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486400"/>
            <a:ext cx="10515600" cy="82296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486400"/>
            <a:ext cx="63500" cy="8229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0">
                <a:solidFill>
                  <a:srgbClr val="FFFFFF"/>
                </a:solidFill>
                <a:latin typeface="Helvetica Neue"/>
              </a:defRPr>
            </a:pPr>
            <a:r>
              <a:t>你給 AI 多少「你的樣子」，它就回給你多少「你的樣子」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用 AI 改，不是用 AI 寫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0">
                <a:solidFill>
                  <a:srgbClr val="BBBBCC"/>
                </a:solidFill>
                <a:latin typeface="Helvetica Neue"/>
              </a:defRPr>
            </a:pPr>
            <a:r>
              <a:t>拿到初稿後，繼續用 AI 當教練：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10515600" cy="77724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63500" cy="7772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600" b="0">
                <a:solidFill>
                  <a:srgbClr val="FFFFFF"/>
                </a:solidFill>
                <a:latin typeface="Helvetica Neue"/>
              </a:defRPr>
            </a:pPr>
            <a:r>
              <a:t>「這段反思沒有連結到研究問題，幫我指出哪裡可以改。」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37560"/>
            <a:ext cx="10515600" cy="77724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63500" cy="777240"/>
          </a:xfrm>
          <a:prstGeom prst="rect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600" b="0">
                <a:solidFill>
                  <a:srgbClr val="FFFFFF"/>
                </a:solidFill>
                <a:latin typeface="Helvetica Neue"/>
              </a:defRPr>
            </a:pPr>
            <a:r>
              <a:t>「給我三種角度：學到什麼 / 對家鄉看法改變 / 還想探索什麼」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97680"/>
            <a:ext cx="10515600" cy="77724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297680"/>
            <a:ext cx="63500" cy="77724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600" b="0">
                <a:solidFill>
                  <a:srgbClr val="FFFFFF"/>
                </a:solidFill>
                <a:latin typeface="Helvetica Neue"/>
              </a:defRPr>
            </a:pPr>
            <a:r>
              <a:t>「這句話怎麼改更有力？」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至少來回三輪，改好後貼回 Word 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CC66FF"/>
                </a:solidFill>
                <a:latin typeface="Helvetica Neue"/>
              </a:defRPr>
            </a:pPr>
            <a:r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6600" b="1">
                <a:solidFill>
                  <a:srgbClr val="FFFFFF"/>
                </a:solidFill>
                <a:latin typeface="Helvetica Neue"/>
              </a:defRPr>
            </a:pPr>
            <a:r>
              <a:t>Gamma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400" b="0">
                <a:solidFill>
                  <a:srgbClr val="BBBBCC"/>
                </a:solidFill>
                <a:latin typeface="Helvetica Neue"/>
              </a:defRPr>
            </a:pPr>
            <a:r>
              <a:t>做簡報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548640"/>
            <a:ext cx="502920" cy="502920"/>
          </a:xfrm>
          <a:prstGeom prst="ellipse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Gamma——做簡報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0">
                <a:solidFill>
                  <a:srgbClr val="BBBBCC"/>
                </a:solidFill>
                <a:latin typeface="Helvetica Neue"/>
              </a:defRPr>
            </a:pPr>
            <a:r>
              <a:t>把 Word 內容貼進 gamma.app，輸入：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63500" cy="182880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149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600" b="0">
                <a:solidFill>
                  <a:srgbClr val="FFFFFF"/>
                </a:solidFill>
                <a:latin typeface="Helvetica Neue"/>
              </a:defRPr>
            </a:pPr>
            <a:r>
              <a:t>高中歷史課程學習成果報告簡報。</a:t>
            </a:r>
            <a:br/>
            <a:r>
              <a:t>標題：（你的題目）</a:t>
            </a:r>
            <a:br/>
            <a:r>
              <a:t>一、研究動機  二、研究發現  三、學習反思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00D2FF"/>
                </a:solidFill>
                <a:latin typeface="Helvetica Neue"/>
              </a:defRPr>
            </a:pPr>
            <a:r>
              <a:t>→ 30 秒生成簡報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00D2FF"/>
                </a:solidFill>
                <a:latin typeface="Helvetica Neue"/>
              </a:defRPr>
            </a:pPr>
            <a:r>
              <a:t>→ 記得刪掉 AI 亂加的內容、補上自己的話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0">
                <a:solidFill>
                  <a:srgbClr val="9999AA"/>
                </a:solidFill>
                <a:latin typeface="Helvetica Neue"/>
              </a:defRPr>
            </a:pPr>
            <a:r>
              <a:t>也可以用 claude.ai 直接生成 .pptx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CC66FF"/>
                </a:solidFill>
                <a:latin typeface="Helvetica Neue"/>
              </a:defRPr>
            </a:pPr>
            <a:r>
              <a:t>揭開黑盒子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5400" b="1">
                <a:solidFill>
                  <a:srgbClr val="FFFFFF"/>
                </a:solidFill>
                <a:latin typeface="Helvetica Neue"/>
              </a:defRPr>
            </a:pPr>
            <a:r>
              <a:t>AI 怎麼辦到的？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0">
                <a:solidFill>
                  <a:srgbClr val="BBBBCC"/>
                </a:solidFill>
                <a:latin typeface="Helvetica Neue"/>
              </a:defRPr>
            </a:pPr>
            <a:r>
              <a:t>輸入 → 函數 → 輸出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AI 的本質是「函數」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0">
                <a:solidFill>
                  <a:srgbClr val="BBBBCC"/>
                </a:solidFill>
                <a:latin typeface="Helvetica Neue"/>
              </a:defRPr>
            </a:pPr>
            <a:r>
              <a:t>國中數學學過：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800" b="1">
                <a:solidFill>
                  <a:srgbClr val="00D2FF"/>
                </a:solidFill>
                <a:latin typeface="Helvetica Neue"/>
              </a:defRPr>
            </a:pPr>
            <a:r>
              <a:t>輸入  →  規則  →  輸出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0">
                <a:solidFill>
                  <a:srgbClr val="BBBBCC"/>
                </a:solidFill>
                <a:latin typeface="Helvetica Neue"/>
              </a:defRPr>
            </a:pPr>
            <a:r>
              <a:t>AI 做的事情一模一樣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77724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0800" cy="77724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手寫辨識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400" b="0">
                <a:solidFill>
                  <a:srgbClr val="BBBBCC"/>
                </a:solidFill>
                <a:latin typeface="Helvetica Neue"/>
              </a:defRPr>
            </a:pPr>
            <a:r>
              <a:t>圖片 → f → 「這是 5」（92%）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743200"/>
            <a:ext cx="5029200" cy="77724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743200"/>
            <a:ext cx="50800" cy="77724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貓狗辨識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54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400" b="0">
                <a:solidFill>
                  <a:srgbClr val="BBBBCC"/>
                </a:solidFill>
                <a:latin typeface="Helvetica Neue"/>
              </a:defRPr>
            </a:pPr>
            <a:r>
              <a:t>照片 → f → 貓 90% / 狗 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657600"/>
            <a:ext cx="5029200" cy="77724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657600"/>
            <a:ext cx="50800" cy="77724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7490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1">
                <a:solidFill>
                  <a:srgbClr val="FFFFFF"/>
                </a:solidFill>
                <a:latin typeface="Helvetica Neue"/>
              </a:defRPr>
            </a:pPr>
            <a:r>
              <a:t>文字生成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400" b="0">
                <a:solidFill>
                  <a:srgbClr val="BBBBCC"/>
                </a:solidFill>
                <a:latin typeface="Helvetica Neue"/>
              </a:defRPr>
            </a:pPr>
            <a:r>
              <a:t>提示詞 → f → 生成的文字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20640"/>
            <a:ext cx="10515600" cy="82296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120640"/>
            <a:ext cx="63500" cy="82296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0">
                <a:solidFill>
                  <a:srgbClr val="FFFFFF"/>
                </a:solidFill>
                <a:latin typeface="Helvetica Neue"/>
              </a:defRPr>
            </a:pPr>
            <a:r>
              <a:t>不管多厲害，骨子裡都是：輸入 → 函數 → 輸出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生成式 AI 是「會接龍的函數」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0">
                <a:solidFill>
                  <a:srgbClr val="BBBBCC"/>
                </a:solidFill>
                <a:latin typeface="Helvetica Neue"/>
              </a:defRPr>
            </a:pPr>
            <a:r>
              <a:t>每次只猜下一個字，再把輸出接回輸入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10515600" cy="27432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63500" cy="2743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1498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500" b="0">
                <a:solidFill>
                  <a:srgbClr val="FFFFFF"/>
                </a:solidFill>
                <a:latin typeface="Helvetica Neue"/>
              </a:defRPr>
            </a:pPr>
            <a:r>
              <a:t>f("什麼是臺灣最美的風景？")           →  臺</a:t>
            </a:r>
            <a:br/>
            <a:r>
              <a:t>f("什麼是臺灣最美的風景？臺")         →  灣</a:t>
            </a:r>
            <a:br/>
            <a:r>
              <a:t>f("什麼是臺灣最美的風景？臺灣")       →  最</a:t>
            </a:r>
            <a:br/>
            <a:r>
              <a:t>f("什麼是臺灣最美的風景？臺灣最")     →  美</a:t>
            </a:r>
            <a:br/>
            <a:r>
              <a:t>   ……</a:t>
            </a:r>
            <a:br/>
            <a:r>
              <a:t>f("什麼是臺灣最美的風景？臺灣最美的風景是")  → 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0">
                <a:solidFill>
                  <a:srgbClr val="BBBBCC"/>
                </a:solidFill>
                <a:latin typeface="Helvetica Neue"/>
              </a:defRPr>
            </a:pPr>
            <a:r>
              <a:t>就像 LINE 鍵盤自動建議下一個字——AI 做一樣的事，只是猜得非常準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為什麼同一題會得到不同答案？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AI 不是每次都選機率最高的字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0">
                <a:solidFill>
                  <a:srgbClr val="BBBBCC"/>
                </a:solidFill>
                <a:latin typeface="Helvetica Neue"/>
              </a:defRPr>
            </a:pPr>
            <a:r>
              <a:t>像轉「輪盤」——機率高的比較容易中，但不是一定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63500" cy="2286000"/>
          </a:xfrm>
          <a:prstGeom prst="rect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400" b="1">
                <a:solidFill>
                  <a:srgbClr val="FFAA33"/>
                </a:solidFill>
                <a:latin typeface="Helvetica Neue"/>
              </a:defRPr>
            </a:pPr>
            <a:r>
              <a:t>🌡  溫度參數（Temperature）控制隨機性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10149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0">
                <a:solidFill>
                  <a:srgbClr val="FFFFFF"/>
                </a:solidFill>
                <a:latin typeface="Helvetica Neue"/>
              </a:defRPr>
            </a:pPr>
            <a:r>
              <a:t>溫度低 → 回答比較固定</a:t>
            </a:r>
            <a:br/>
            <a:br/>
            <a:r>
              <a:t>溫度高 → 回答有創意，但比較容易出錯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600" b="1">
                <a:solidFill>
                  <a:srgbClr val="00D2FF"/>
                </a:solidFill>
                <a:latin typeface="Helvetica Neue"/>
              </a:defRPr>
            </a:pPr>
            <a:r>
              <a:t>→ 這個「猜字+輪盤」也是幻覺的根源（下一張）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Token：AI 眼中的世界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AI 看到的不是文字，是 Token（碎片）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63500" cy="228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400" b="1">
                <a:solidFill>
                  <a:srgbClr val="00D2FF"/>
                </a:solidFill>
                <a:latin typeface="Helvetica Neue"/>
              </a:defRPr>
            </a:pPr>
            <a:r>
              <a:t>打開 platform.openai.com/tokenizer 試試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149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700" b="0">
                <a:solidFill>
                  <a:srgbClr val="FFFFFF"/>
                </a:solidFill>
                <a:latin typeface="Helvetica Neue"/>
              </a:defRPr>
            </a:pPr>
            <a:r>
              <a:t>▸  輸入「虎尾糖廠」  →  看它被切成幾個 token</a:t>
            </a:r>
            <a:br/>
            <a:r>
              <a:t>▸  輸入「314159」  →  數字的切法跟你想的完全不一樣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800" b="1">
                <a:solidFill>
                  <a:srgbClr val="FF6B6B"/>
                </a:solidFill>
                <a:latin typeface="Helvetica Neue"/>
              </a:defRPr>
            </a:pPr>
            <a:r>
              <a:t>這就是為什麼 AI 有時候數學會算錯——它看到的不是數字，是碎片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AI 怎麼被訓練出來的？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383280" cy="384048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38328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5600" b="1">
                <a:solidFill>
                  <a:srgbClr val="00D2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預訓練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  <a:defRPr sz="1500" b="0">
                <a:solidFill>
                  <a:srgbClr val="BBBBCC"/>
                </a:solidFill>
                <a:latin typeface="Helvetica Neue"/>
              </a:defRPr>
            </a:pPr>
            <a:r>
              <a:t>讀了整個網路的文字</a:t>
            </a:r>
            <a:br/>
            <a:r>
              <a:t>→ 學會語言模式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03120"/>
            <a:ext cx="3383280" cy="384048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103120"/>
            <a:ext cx="3383280" cy="50800"/>
          </a:xfrm>
          <a:prstGeom prst="rect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5600" b="1">
                <a:solidFill>
                  <a:srgbClr val="FFAA33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9319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微調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66344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  <a:defRPr sz="1500" b="0">
                <a:solidFill>
                  <a:srgbClr val="BBBBCC"/>
                </a:solidFill>
                <a:latin typeface="Helvetica Neue"/>
              </a:defRPr>
            </a:pPr>
            <a:r>
              <a:t>針對任務練習</a:t>
            </a:r>
            <a:br/>
            <a:r>
              <a:t>→ 學會當助理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103120"/>
            <a:ext cx="3383280" cy="384048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3383280" cy="508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46888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5600" b="1">
                <a:solidFill>
                  <a:srgbClr val="4ECB71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9319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RLHF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66344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  <a:defRPr sz="1500" b="0">
                <a:solidFill>
                  <a:srgbClr val="BBBBCC"/>
                </a:solidFill>
                <a:latin typeface="Helvetica Neue"/>
              </a:defRPr>
            </a:pPr>
            <a:r>
              <a:t>人類回饋好壞</a:t>
            </a:r>
            <a:br/>
            <a:r>
              <a:t>→ 學會避免有害回應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幻覺——AI 也會騙你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AI 有時候會一本正經地「編故事」，這叫幻覺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63500" cy="1828800"/>
          </a:xfrm>
          <a:prstGeom prst="rect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400" b="1">
                <a:solidFill>
                  <a:srgbClr val="FFAA33"/>
                </a:solidFill>
                <a:latin typeface="Helvetica Neue"/>
              </a:defRPr>
            </a:pPr>
            <a:r>
              <a:t>❓  為什麼會有幻覺？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149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600" b="0">
                <a:solidFill>
                  <a:srgbClr val="FFFFFF"/>
                </a:solidFill>
                <a:latin typeface="Helvetica Neue"/>
              </a:defRPr>
            </a:pPr>
            <a:r>
              <a:t>還記得剛才的「輪盤」嗎？AI 不是在「回憶事實」，是在「猜下一個最可能的字」——它沒辦法分辨「真的」跟「聽起來像真的」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663440"/>
            <a:ext cx="10515600" cy="173736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663440"/>
            <a:ext cx="63500" cy="17373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400" b="1">
                <a:solidFill>
                  <a:srgbClr val="FF6B6B"/>
                </a:solidFill>
                <a:latin typeface="Helvetica Neue"/>
              </a:defRPr>
            </a:pPr>
            <a:r>
              <a:t>實驗：用同一個問題測四個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149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500" b="0">
                <a:solidFill>
                  <a:srgbClr val="FFFFFF"/>
                </a:solidFill>
                <a:latin typeface="Helvetica Neue"/>
              </a:defRPr>
            </a:pPr>
            <a:r>
              <a:t>分別打開 ChatGPT、Claude、Gemini、Grok，貼上完全相同的問題：</a:t>
            </a:r>
            <a:br/>
            <a:r>
              <a:t>「請描述 1920 年雲林農民組合抗議虎尾糖廠壓低甘蔗收購價格的經過」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觀察重點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60000"/>
              </a:lnSpc>
              <a:spcAft>
                <a:spcPts val="800"/>
              </a:spcAft>
            </a:pPr>
            <a:r>
              <a:rPr sz="2000" b="1">
                <a:solidFill>
                  <a:srgbClr val="FF6B6B"/>
                </a:solidFill>
                <a:latin typeface="Helvetica Neue"/>
              </a:rPr>
              <a:t>▸  </a:t>
            </a:r>
            <a:r>
              <a:rPr sz="2000">
                <a:solidFill>
                  <a:srgbClr val="BBBBCC"/>
                </a:solidFill>
                <a:latin typeface="Helvetica Neue"/>
              </a:rPr>
              <a:t>四個 AI 講的是同一件事嗎？</a:t>
            </a:r>
          </a:p>
          <a:p>
            <a:pPr>
              <a:lnSpc>
                <a:spcPct val="160000"/>
              </a:lnSpc>
              <a:spcAft>
                <a:spcPts val="800"/>
              </a:spcAft>
            </a:pPr>
            <a:r>
              <a:rPr sz="2000" b="1">
                <a:solidFill>
                  <a:srgbClr val="FF6B6B"/>
                </a:solidFill>
                <a:latin typeface="Helvetica Neue"/>
              </a:rPr>
              <a:t>▸  </a:t>
            </a:r>
            <a:r>
              <a:rPr sz="2000">
                <a:solidFill>
                  <a:srgbClr val="BBBBCC"/>
                </a:solidFill>
                <a:latin typeface="Helvetica Neue"/>
              </a:rPr>
              <a:t>有沒有 AI 承認「我不確定」？</a:t>
            </a:r>
          </a:p>
          <a:p>
            <a:pPr>
              <a:lnSpc>
                <a:spcPct val="160000"/>
              </a:lnSpc>
              <a:spcAft>
                <a:spcPts val="800"/>
              </a:spcAft>
            </a:pPr>
            <a:r>
              <a:rPr sz="2000" b="1">
                <a:solidFill>
                  <a:srgbClr val="FF6B6B"/>
                </a:solidFill>
                <a:latin typeface="Helvetica Neue"/>
              </a:rPr>
              <a:t>▸  </a:t>
            </a:r>
            <a:r>
              <a:rPr sz="2000">
                <a:solidFill>
                  <a:srgbClr val="BBBBCC"/>
                </a:solidFill>
                <a:latin typeface="Helvetica Neue"/>
              </a:rPr>
              <a:t>跟 NotebookLM 的素材比對——哪些是真的？哪些是編的？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10515600" cy="18288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63500" cy="18288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400" b="1">
                <a:solidFill>
                  <a:srgbClr val="4ECB71"/>
                </a:solidFill>
                <a:latin typeface="Helvetica Neue"/>
              </a:defRPr>
            </a:pPr>
            <a:r>
              <a:t>結論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149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0">
                <a:solidFill>
                  <a:srgbClr val="FFFFFF"/>
                </a:solidFill>
                <a:latin typeface="Helvetica Neue"/>
              </a:defRPr>
            </a:pPr>
            <a:r>
              <a:t>AI 不是知識庫，是語言模型。</a:t>
            </a:r>
            <a:br/>
            <a:r>
              <a:t>所以才需要 NotebookLM——有出處的回答才可信。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什麼東西不該丟給 AI？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0">
                <a:solidFill>
                  <a:srgbClr val="BBBBCC"/>
                </a:solidFill>
                <a:latin typeface="Helvetica Neue"/>
              </a:defRPr>
            </a:pPr>
            <a:r>
              <a:t>你打進去的每一個字，都會離開你的電腦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5120640" cy="32004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63500" cy="3200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400" b="1">
                <a:solidFill>
                  <a:srgbClr val="FF6B6B"/>
                </a:solidFill>
                <a:latin typeface="Helvetica Neue"/>
              </a:defRPr>
            </a:pPr>
            <a:r>
              <a:t>不要丟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47548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700" b="0">
                <a:solidFill>
                  <a:srgbClr val="FFFFFF"/>
                </a:solidFill>
                <a:latin typeface="Helvetica Neue"/>
              </a:defRPr>
            </a:pPr>
            <a:r>
              <a:t>▸  日記、心情、家裡狀況</a:t>
            </a:r>
            <a:br/>
            <a:br/>
            <a:r>
              <a:t>▸  同學個資、輔導紀錄</a:t>
            </a:r>
            <a:br/>
            <a:br/>
            <a:r>
              <a:t>▸  未公開的競賽作品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468880"/>
            <a:ext cx="5120640" cy="32004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2468880"/>
            <a:ext cx="63500" cy="32004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560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400" b="1">
                <a:solidFill>
                  <a:srgbClr val="4ECB71"/>
                </a:solidFill>
                <a:latin typeface="Helvetica Neue"/>
              </a:defRPr>
            </a:pPr>
            <a:r>
              <a:t>判準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971800"/>
            <a:ext cx="47548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700" b="0">
                <a:solidFill>
                  <a:srgbClr val="FFFFFF"/>
                </a:solidFill>
                <a:latin typeface="Helvetica Neue"/>
              </a:defRPr>
            </a:pPr>
            <a:r>
              <a:t>「這段話被截圖貼到網路上，</a:t>
            </a:r>
            <a:br/>
            <a:r>
              <a:t>我會崩潰嗎？」</a:t>
            </a:r>
            <a:br/>
            <a:br/>
            <a:r>
              <a:t>會  →  別丟雲端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你現在手上有什麼？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515600" cy="59436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63500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476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00D2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研究筆記（含出處）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9842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  <a:defRPr sz="1600" b="0">
                <a:solidFill>
                  <a:srgbClr val="BBBBCC"/>
                </a:solidFill>
                <a:latin typeface="Helvetica Neue"/>
              </a:defRPr>
            </a:pPr>
            <a:r>
              <a:t>NotebookLM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10515600" cy="59436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63500" cy="5943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791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FF6B6B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974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因果關係圖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7157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  <a:defRPr sz="1600" b="0">
                <a:solidFill>
                  <a:srgbClr val="BBBBCC"/>
                </a:solidFill>
                <a:latin typeface="Helvetica Neue"/>
              </a:defRPr>
            </a:pPr>
            <a:r>
              <a:t>Napkin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10515600" cy="59436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63500" cy="59436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1071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4ECB71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29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小論文 Word 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4472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  <a:defRPr sz="1600" b="0">
                <a:solidFill>
                  <a:srgbClr val="BBBBCC"/>
                </a:solidFill>
                <a:latin typeface="Helvetica Neue"/>
              </a:defRPr>
            </a:pPr>
            <a:r>
              <a:t>Claude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10515600" cy="59436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63500" cy="594360"/>
          </a:xfrm>
          <a:prstGeom prst="rect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1422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FFAA33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1605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反思定稿（貼回 Word）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1788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  <a:defRPr sz="1600" b="0">
                <a:solidFill>
                  <a:srgbClr val="BBBBCC"/>
                </a:solidFill>
                <a:latin typeface="Helvetica Neue"/>
              </a:defRPr>
            </a:pPr>
            <a:r>
              <a:t>ChatGPT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754880"/>
            <a:ext cx="10515600" cy="59436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754880"/>
            <a:ext cx="63500" cy="59436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8737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CC66FF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8920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報告簡報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9103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  <a:defRPr sz="1600" b="0">
                <a:solidFill>
                  <a:srgbClr val="BBBBCC"/>
                </a:solidFill>
                <a:latin typeface="Helvetica Neue"/>
              </a:defRPr>
            </a:pPr>
            <a:r>
              <a:t>Gamma 或 Claude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老師示範：跑完流程長這樣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000" b="0">
                <a:solidFill>
                  <a:srgbClr val="BBBBCC"/>
                </a:solidFill>
                <a:latin typeface="Helvetica Neue"/>
              </a:defRPr>
            </a:pPr>
            <a:r>
              <a:t>以「為什麼是雲林？」為題跑完整套流程，產出：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12080" cy="13716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521208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⏱  互動時間軸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500" b="0">
                <a:solidFill>
                  <a:srgbClr val="BBBBCC"/>
                </a:solidFill>
                <a:latin typeface="Helvetica Neue"/>
              </a:defRPr>
            </a:pPr>
            <a:r>
              <a:t>虎尾糖廠時間軸.html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377440"/>
            <a:ext cx="5212080" cy="13716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377440"/>
            <a:ext cx="5212080" cy="50800"/>
          </a:xfrm>
          <a:prstGeom prst="rect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📄  小論文 Word 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500" b="0">
                <a:solidFill>
                  <a:srgbClr val="BBBBCC"/>
                </a:solidFill>
                <a:latin typeface="Helvetica Neue"/>
              </a:defRPr>
            </a:pPr>
            <a:r>
              <a:t>Step 3 + 4 定稿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212080" cy="13716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5212080" cy="508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🎞  Gamma 簡報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500" b="0">
                <a:solidFill>
                  <a:srgbClr val="BBBBCC"/>
                </a:solidFill>
                <a:latin typeface="Helvetica Neue"/>
              </a:defRPr>
            </a:pPr>
            <a:r>
              <a:t>Step 5 路徑 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5212080" cy="13716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5212080" cy="5080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605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🎞  Claude 簡報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09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500" b="0">
                <a:solidFill>
                  <a:srgbClr val="BBBBCC"/>
                </a:solidFill>
                <a:latin typeface="Helvetica Neue"/>
              </a:defRPr>
            </a:pPr>
            <a:r>
              <a:t>Step 5 路徑 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760720"/>
            <a:ext cx="10515600" cy="64008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760720"/>
            <a:ext cx="63500" cy="64008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943600"/>
            <a:ext cx="10149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600" b="0">
                <a:solidFill>
                  <a:srgbClr val="FFFFFF"/>
                </a:solidFill>
                <a:latin typeface="Helvetica Neue"/>
              </a:defRPr>
            </a:pPr>
            <a:r>
              <a:t>三小時後，你手上也會有類似的東西——而且是你自己選的題目、你自己的口吻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三個帶走的觀念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515600" cy="11887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63500" cy="1188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10312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011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AI 幫你加速，不是幫你代寫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514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600" b="0">
                <a:solidFill>
                  <a:srgbClr val="BBBBCC"/>
                </a:solidFill>
                <a:latin typeface="Helvetica Neue"/>
              </a:defRPr>
            </a:pPr>
            <a:r>
              <a:t>最後掛名的是你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46120"/>
            <a:ext cx="10515600" cy="11887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63500" cy="1188720"/>
          </a:xfrm>
          <a:prstGeom prst="rect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520440"/>
            <a:ext cx="640080" cy="640080"/>
          </a:xfrm>
          <a:prstGeom prst="ellipse">
            <a:avLst/>
          </a:prstGeom>
          <a:solidFill>
            <a:srgbClr val="FFA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4290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好 prompt 比好工具重要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931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600" b="0">
                <a:solidFill>
                  <a:srgbClr val="BBBBCC"/>
                </a:solidFill>
                <a:latin typeface="Helvetica Neue"/>
              </a:defRPr>
            </a:pPr>
            <a:r>
              <a:t>你給 AI 多少「你的樣子」，它就回給你多少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663440"/>
            <a:ext cx="10515600" cy="11887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63500" cy="1188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937760"/>
            <a:ext cx="640080" cy="6400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846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一定要自己檢查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349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600" b="0">
                <a:solidFill>
                  <a:srgbClr val="BBBBCC"/>
                </a:solidFill>
                <a:latin typeface="Helvetica Neue"/>
              </a:defRPr>
            </a:pPr>
            <a:r>
              <a:t>四個 AI 可能給你四個版本的「歷史」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4648" y="256032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7200" b="1">
                <a:solidFill>
                  <a:srgbClr val="FFFFFF"/>
                </a:solidFill>
                <a:latin typeface="Helvetica Neue"/>
              </a:defRPr>
            </a:pPr>
            <a:r>
              <a:t>謝謝！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2400" b="0">
                <a:solidFill>
                  <a:srgbClr val="00D2FF"/>
                </a:solidFill>
                <a:latin typeface="Helvetica Neue"/>
              </a:defRPr>
            </a:pPr>
            <a:r>
              <a:t>現在開始跟 AI 作朋友吧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035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defRPr sz="1600" b="0">
                <a:solidFill>
                  <a:srgbClr val="9999AA"/>
                </a:solidFill>
                <a:latin typeface="Helvetica Neue"/>
              </a:defRPr>
            </a:pPr>
            <a:r>
              <a:t>教學網頁：letranger.github.io/2026-04-30-AI-work/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