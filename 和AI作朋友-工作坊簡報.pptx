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 30 秒。</a:t>
            </a:r>
          </a:p>
          <a:p/>
          <a:p>
            <a:r>
              <a:t>「AI 不是未來的事，是現在的事。問題不是要不要用，而是你會不會用。」</a:t>
            </a:r>
          </a:p>
          <a:p>
            <a:r>
              <a:t>還在 prompt → copy → paste？今天帶你看真正的玩法。</a:t>
            </a:r>
          </a:p>
          <a:p/>
          <a:p>
            <a:r>
              <a:t>提醒學生兩個 QR code：上面是這份簡報，下面是教學網頁（含完整文字、素材清單、附錄）。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主線：用 AI 做一份雲林糖業的台灣史學習歷程。</a:t>
            </a:r>
          </a:p>
          <a:p/>
          <a:p>
            <a:r>
              <a:t>關鍵訊息：</a:t>
            </a:r>
          </a:p>
          <a:p>
            <a:r>
              <a:t>- 不是 AI 幫你「寫東西」，是你會不會用 AI「做事情」（交辦）</a:t>
            </a:r>
          </a:p>
          <a:p>
            <a:r>
              <a:t>- 三小時跑完五階段：讀→做→學→簡報→創造</a:t>
            </a:r>
          </a:p>
          <a:p>
            <a:r>
              <a:t>- 每階段產出餵進下一階段——最後手上有一份 Word + 一份簡報，可能還有互動網頁</a:t>
            </a:r>
          </a:p>
          <a:p/>
          <a:p>
            <a:r>
              <a:t>為什麼選這個主題：學生人在雲林、虎尾糖廠就在隔壁；108 課綱第一冊第五章；在地題材撞題率低。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重點：學生大多卡在 Lv.1（問一句、複製一段），所以寫出來像罐頭。</a:t>
            </a:r>
          </a:p>
          <a:p/>
          <a:p>
            <a:r>
              <a:t>今天直接跳到 Lv.3（AI Agent），收尾「點到」Lv.4（Skills/MCP）讓他們知道學習不是停在這場工作坊。</a:t>
            </a:r>
          </a:p>
          <a:p/>
          <a:p>
            <a:r>
              <a:t>Lv.5 (OpenClaw, Hermes) 是 2026 在進入主流的「專屬助理」概念，提醒：你要學的是「怎麼跟 AI 一起長」，不是某個工具。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第一段「讀」20 min。</a:t>
            </a:r>
          </a:p>
          <a:p/>
          <a:p>
            <a:r>
              <a:t>場景：你想寫一份台灣史的課程學習成果，但三份史料根本還沒消化。</a:t>
            </a:r>
          </a:p>
          <a:p/>
          <a:p>
            <a:r>
              <a:t>接下來四張投影片：先試 ChatGPT 看 Lv.1 限制 → NotebookLM 怎麼用 → 打包指令 → 匯出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現場示範：直接打開 chatgpt.com，貼上這個問題。</a:t>
            </a:r>
          </a:p>
          <a:p/>
          <a:p>
            <a:r>
              <a:t>ChatGPT 會回一個看起來合理的答案（氣候、土地之類），但：</a:t>
            </a:r>
          </a:p>
          <a:p>
            <a:r>
              <a:t>- 細節可能是幻覺</a:t>
            </a:r>
          </a:p>
          <a:p>
            <a:r>
              <a:t>- 通常不會提到「戊戌大水災」這個關鍵事件</a:t>
            </a:r>
          </a:p>
          <a:p>
            <a:r>
              <a:t>- 完全沒有出處</a:t>
            </a:r>
          </a:p>
          <a:p/>
          <a:p>
            <a:r>
              <a:t>對話結束時下一句：「這就是 Lv.1——你問一個問題，它給你一個答案，但你沒辦法驗證。接下來換 Lv.2 的方式。」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上傳 4 份糖業史料 PDF（事前已準備）：</a:t>
            </a:r>
          </a:p>
          <a:p>
            <a:r>
              <a:t>1. 臺灣糖業史維基百科</a:t>
            </a:r>
          </a:p>
          <a:p>
            <a:r>
              <a:t>2. vocus 糖都之父</a:t>
            </a:r>
          </a:p>
          <a:p>
            <a:r>
              <a:t>3. 楊彥騏《雲林糖業的興衰》</a:t>
            </a:r>
          </a:p>
          <a:p>
            <a:r>
              <a:t>4. 台糖官網虎尾糖廠</a:t>
            </a:r>
          </a:p>
          <a:p/>
          <a:p>
            <a:r>
              <a:t>四個結構化問題依序問——這是 NotebookLM 的真正用法（Lv.2），不是只問一句就完事。</a:t>
            </a:r>
          </a:p>
          <a:p/>
          <a:p>
            <a:r>
              <a:t>每問完一題，NotebookLM 會給有出處的答案。提醒學生：不一個一個複製，最後一次性打包（下一張）。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關鍵：問完所有問題後，不要一個一個複製。</a:t>
            </a:r>
          </a:p>
          <a:p/>
          <a:p>
            <a:r>
              <a:t>貼這段「整合成研究筆記」的指令，NotebookLM 會把前面所有零碎答案整合成一份結構化筆記，每一點都標明出處。</a:t>
            </a:r>
          </a:p>
          <a:p/>
          <a:p>
            <a:r>
              <a:t>下一張就是匯出這份筆記成 Word 檔，餵給 Claude 寫小論文。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現場示範這兩步操作（教學網頁有截圖）：</a:t>
            </a:r>
          </a:p>
          <a:p/>
          <a:p>
            <a:r>
              <a:t>1. 在 NotebookLM 對話的回答底下點「儲存到記事」——記事會出現在「工作室」面板。</a:t>
            </a:r>
          </a:p>
          <a:p>
            <a:r>
              <a:t>2. 點開記事 → 選「匯出至文件」→ 下載一份 .docx Word 檔。</a:t>
            </a:r>
          </a:p>
          <a:p/>
          <a:p>
            <a:r>
              <a:t>這份 Word 檔包含完整的研究筆記與出處，下一步 Claude 直接吃這個檔當素材，比複製貼上乾淨多了。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第二段「做」25 min。Napkin 段落只 3 min。</a:t>
            </a:r>
          </a:p>
          <a:p/>
          <a:p>
            <a:r>
              <a:t>關鍵訊息：好小論文的核心不是文字，是「概念結構」——觀點之間的關係。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重點：論文不只是「寫出來」，是「想出來」——用圖把背後的結構表達出來。</a:t>
            </a:r>
          </a:p>
          <a:p/>
          <a:p>
            <a:r>
              <a:t>NotebookLM 整理的五個原因，貼進 napkin.ai，自動生成因果關係圖。下載備用，下一步上傳給 Claude（連同 NotebookLM 的 Word）。</a:t>
            </a:r>
          </a:p>
          <a:p/>
          <a:p>
            <a:r>
              <a:t>可選：如果學生想得更深，也可以從研究筆記其他角度生圖（例如比較圖、時間軸）。重點是訓練「看出結構」這件事。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段落 10 min。產出小論文 Word 初稿。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現場示範整個流程：</a:t>
            </a:r>
          </a:p>
          <a:p/>
          <a:p>
            <a:r>
              <a:t>1. 貼格式規範（教學網頁附錄整段複製）。可以一起上傳格式說明 PDF。</a:t>
            </a:r>
          </a:p>
          <a:p>
            <a:r>
              <a:t>2. 上傳 NotebookLM 匯出的 Word（裡面有研究筆記與出處）。</a:t>
            </a:r>
          </a:p>
          <a:p>
            <a:r>
              <a:t>3. 上傳 Napkin 做好的因果關係圖（Claude 看得到圖）。</a:t>
            </a:r>
          </a:p>
          <a:p>
            <a:r>
              <a:t>4. 下指令——指令裡可以給篇名、作者、大綱要點。指令詳見教學網頁。</a:t>
            </a:r>
          </a:p>
          <a:p/>
          <a:p>
            <a:r>
              <a:t>Claude 生成 Artifact（Word 預覽），點下載拿到 .docx。</a:t>
            </a:r>
          </a:p>
          <a:p/>
          <a:p>
            <a:r>
              <a:t>備案：Claude 額度用完，用 Gemini，到 Google Docs 後下載成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關鍵觀念：AI 幫你產出初稿，但「你的判斷」才是學習歷程的靈魂。</a:t>
            </a:r>
          </a:p>
          <a:p/>
          <a:p>
            <a:r>
              <a:t>三件事：</a:t>
            </a:r>
          </a:p>
          <a:p>
            <a:r>
              <a:t>1. 換成自己的口吻——AI 用詞太成熟、太教科書，一看就是 AI 寫的。</a:t>
            </a:r>
          </a:p>
          <a:p>
            <a:r>
              <a:t>2. 檢查事實——AI 真的會編人名、年份、事件，照單全收會出包。</a:t>
            </a:r>
          </a:p>
          <a:p>
            <a:r>
              <a:t>3. 反思先留著——AI 寫的反思是罐頭，下一段（ChatGPT）會用 prompt 三招改。</a:t>
            </a:r>
          </a:p>
          <a:p/>
          <a:p>
            <a:r>
              <a:t>這份 Word 還不能直接交。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第三段「學」20 min。</a:t>
            </a:r>
          </a:p>
          <a:p/>
          <a:p>
            <a:r>
              <a:t>學習歷程最難的不是論文本體，是「反思」。流水帳的反思一看就是 AI 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對照爛 prompt vs. 好 prompt 的差距。</a:t>
            </a:r>
          </a:p>
          <a:p/>
          <a:p>
            <a:r>
              <a:t>好 prompt 給 AI 三件事：</a:t>
            </a:r>
          </a:p>
          <a:p>
            <a:r>
              <a:t>1. 角色：住雲林的高中生</a:t>
            </a:r>
          </a:p>
          <a:p>
            <a:r>
              <a:t>2. 範例：從「不在意」到「驚訝」的轉變</a:t>
            </a:r>
          </a:p>
          <a:p>
            <a:r>
              <a:t>3. 限制：300 字、高中生口吻</a:t>
            </a:r>
          </a:p>
          <a:p/>
          <a:p>
            <a:r>
              <a:t>關鍵句：「你給 AI 多少『你的樣子』，它就回給你多少『你的樣子』。」</a:t>
            </a:r>
          </a:p>
          <a:p/>
          <a:p>
            <a:r>
              <a:t>學生實作：用 Prompt 三招寫一段自己的反思初稿。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三個示範問題逐一示範。</a:t>
            </a:r>
          </a:p>
          <a:p/>
          <a:p>
            <a:r>
              <a:t>學習歷程最難的不是報告本體，是「反思」。AI 是逼你想清楚的教練——不是幫你寫的槍手。</a:t>
            </a:r>
          </a:p>
          <a:p/>
          <a:p>
            <a:r>
              <a:t>至少來回三輪：寫初稿 → AI 指出問題 → 你自己改 → 再請 AI 看。</a:t>
            </a:r>
          </a:p>
          <a:p/>
          <a:p>
            <a:r>
              <a:t>學生實作：跟 AI 來回改自己的反思段落，至少三輪。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關鍵流程：反思改好之後不是貼回 Word 檔自己編輯，而是貼回 Step 3 的 Claude 對話框，讓 Claude 幫你把整篇文章的風格統一。</a:t>
            </a:r>
          </a:p>
          <a:p/>
          <a:p>
            <a:r>
              <a:t>這樣整篇文章從引言到反思，語氣、用詞會一致——不會出現「論文段落是 Claude 寫的、反思是 ChatGPT 寫的」的拼貼感。</a:t>
            </a:r>
          </a:p>
          <a:p/>
          <a:p>
            <a:r>
              <a:t>下載最新版的 Word 檔，這時候才真正是「你的」學習歷程——AI 幫你把思考變清晰，但內容是你的。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第四段「簡報」15 min。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關鍵觀念：簡報是用來「說」的，不是用來「讀」的——每張投影片只留關鍵字，細節用嘴巴講。</a:t>
            </a:r>
          </a:p>
          <a:p/>
          <a:p>
            <a:r>
              <a:t>把 Word 全文貼進 Gamma，加一段提示詞，30 秒生成簡報。現場快速改一兩張：刪 AI 亂加的、補上自己的話。</a:t>
            </a:r>
          </a:p>
          <a:p/>
          <a:p>
            <a:r>
              <a:t>備案：Claude 也可以直接生成 .pptx 下載。</a:t>
            </a:r>
          </a:p>
          <a:p/>
          <a:p>
            <a:r>
              <a:t>學生實作：用 Gamma 或 Claude 把 Word 變簡報，跟旁邊同學互看「哪裡看得出是你做的、哪裡像 AI 罐頭」。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第五段「創造」20 min。重頭戲。</a:t>
            </a:r>
          </a:p>
          <a:p/>
          <a:p>
            <a:r>
              <a:t>從 prompt-copy-paste 進化到 AI Agent——AI 自己規劃、自己執行。</a:t>
            </a:r>
          </a:p>
          <a:p>
            <a:r>
              <a:t>你的學習歷程不只是文字檔，可以是互動網頁、時間軸、資訊圖表。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 Claude Code 或 Gemini CLI。</a:t>
            </a:r>
          </a:p>
          <a:p/>
          <a:p>
            <a:r>
              <a:t>關鍵：學生不需要會寫程式，只需要會「下指令」。AI Agent 自己建檔、寫 code、跑起來，再追加需求 AI 自己改。</a:t>
            </a:r>
          </a:p>
          <a:p/>
          <a:p>
            <a:r>
              <a:t>「同樣兩小時，你能交出的東西多了三倍。」</a:t>
            </a:r>
          </a:p>
          <a:p/>
          <a:p>
            <a:r>
              <a:t>提醒紅線：最後一關永遠是你——AI 交成品，掛名的是你。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快速示範 Ideogram。</a:t>
            </a:r>
          </a:p>
          <a:p/>
          <a:p>
            <a:r>
              <a:t>兩個用法：</a:t>
            </a:r>
          </a:p>
          <a:p>
            <a:r>
              <a:t>1. 學習歷程封面圖：放專題報告首頁，視覺亮眼。</a:t>
            </a:r>
          </a:p>
          <a:p>
            <a:r>
              <a:t>2. 補充 Step 5 簡報的視覺素材。</a:t>
            </a:r>
          </a:p>
          <a:p/>
          <a:p>
            <a:r>
              <a:t>紅線：最後一關永遠是你——AI 交成品，掛名的是你。</a:t>
            </a:r>
          </a:p>
          <a:p/>
          <a:p>
            <a:r>
              <a:t>收尾這段：學生實作（選擇）：把前段的糖業史報告選一段做成互動網頁，或用 Ideogram 做學習歷程封面圖。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第六段 15 min。揭開黑盒子。</a:t>
            </a:r>
          </a:p>
          <a:p/>
          <a:p>
            <a:r>
              <a:t>接下來的順序：函數本質 → 學測落點例子 → 28×28 手寫辨識例子 → 總結表 → 接龍函數 → 輪盤/溫度 → Token → 訓練三階段 → 幻覺 → 觀察重點 → 不該丟給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國中數學學過函數：輸入 → 規則 → 輸出。</a:t>
            </a:r>
          </a:p>
          <a:p/>
          <a:p>
            <a:r>
              <a:t>舉最簡單的例子：華氏 = 1.8 × 攝氏 + 32。寫成 y = f(x)，函數有兩個參數（1.8、32）。</a:t>
            </a:r>
          </a:p>
          <a:p/>
          <a:p>
            <a:r>
              <a:t>AI 做的事情一模一樣，只是函數複雜得多——下兩張會看更接近 AI 的例子（學測落點、手寫辨識）。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從學生熟悉的「學測落點預測」切入：那也是 y = f(x)，y 是錄取機率，x 是成績組合。</a:t>
            </a:r>
          </a:p>
          <a:p/>
          <a:p>
            <a:r>
              <a:t>簡化版函數：把每科加權後相加。實際上更複雜，但原理一樣：輸入 → 函數 → 輸出。</a:t>
            </a:r>
          </a:p>
          <a:p/>
          <a:p>
            <a:r>
              <a:t>下一張看更接近 AI 本質的例子——手寫辨識。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關鍵概念：AI 看到的不是「圖片」，是 28×28=784 個數字（每個 0-255 的亮度值）。</a:t>
            </a:r>
          </a:p>
          <a:p/>
          <a:p>
            <a:r>
              <a:t>輸出也不是「答案」，是十個機率（0 的機率、1 的機率…9 的機率）。最高的機率對應「答案」。</a:t>
            </a:r>
          </a:p>
          <a:p/>
          <a:p>
            <a:r>
              <a:t>這就是手寫辨識函數的本質——輸入向量、輸出向量。其他 AI 任務都類似（貓狗辨識、文字生成、圖片生成）。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總結 AI 函數家族：手寫辨識、貓狗辨識、文字生成、影像生成——都是函數。</a:t>
            </a:r>
          </a:p>
          <a:p/>
          <a:p>
            <a:r>
              <a:t>差別只在於函數裡有幾千億個參數（GPT-4 超過一兆個），這些參數從海量資料中「學」出來。</a:t>
            </a:r>
          </a:p>
          <a:p/>
          <a:p>
            <a:r>
              <a:t>這就是 AI 的本質。下一張開始講「生成式 AI」這種特定類型的函數。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既然 AI 是函數，那生成式 AI 是什麼樣的函數？</a:t>
            </a:r>
          </a:p>
          <a:p/>
          <a:p>
            <a:r>
              <a:t>答案：每次只猜「下一個字」的函數，把自己的輸出接回輸入，像接龍。</a:t>
            </a:r>
          </a:p>
          <a:p/>
          <a:p>
            <a:r>
              <a:t>用「什麼是臺灣最美的風景？」逐字示範：第一次預測「臺」，把「臺」接回去再預測「灣」，依此類推，最後產生「臺灣最美的風景是人」。</a:t>
            </a:r>
          </a:p>
          <a:p/>
          <a:p>
            <a:r>
              <a:t>就像 LINE 鍵盤自動建議下一個字——AI 做一樣的事，只是猜得非常準。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關鍵概念：AI 不是每次選機率最高的字，加入了一點隨機性（溫度參數）。</a:t>
            </a:r>
          </a:p>
          <a:p/>
          <a:p>
            <a:r>
              <a:t>像轉輪盤：機率高的字佔輪盤多大區域，但每次轉到的不一定。</a:t>
            </a:r>
          </a:p>
          <a:p>
            <a:r>
              <a:t>- 溫度低：選擇集中、回答比較固定（適合事實性問題）</a:t>
            </a:r>
          </a:p>
          <a:p>
            <a:r>
              <a:t>- 溫度高：選擇分散、回答比較有創意（適合創作）</a:t>
            </a:r>
          </a:p>
          <a:p/>
          <a:p>
            <a:r>
              <a:t>這也是為什麼問同一題兩次可能得到不同答案。</a:t>
            </a:r>
          </a:p>
          <a:p/>
          <a:p>
            <a:r>
              <a:t>這個機制下一張會跟「幻覺」連結——AI 不是在「回憶事實」，是在「猜下一個最可能的字」。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 AI 數學會算錯？因為它看到的不是「數字」，是 Token（碎片）。</a:t>
            </a:r>
          </a:p>
          <a:p/>
          <a:p>
            <a:r>
              <a:t>現場演示 OpenAI Tokenizer：</a:t>
            </a:r>
          </a:p>
          <a:p>
            <a:r>
              <a:t>- 「虎尾糖廠」中文怎麼切（中文斷詞特別有趣）</a:t>
            </a:r>
          </a:p>
          <a:p>
            <a:r>
              <a:t>- 「314159」數字怎麼切——可能不是 3-1-4-1-5-9，而是 31-41-59 之類的</a:t>
            </a:r>
          </a:p>
          <a:p/>
          <a:p>
            <a:r>
              <a:t>這就是為什麼 AI 算 314159 × 217 會算錯——它看到的是奇怪的碎片，不是數字。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三階段：</a:t>
            </a:r>
          </a:p>
          <a:p>
            <a:r>
              <a:t>1. 預訓練：餵整個網路的文字，學語言模式（最耗運算的階段）</a:t>
            </a:r>
          </a:p>
          <a:p>
            <a:r>
              <a:t>2. 微調（Fine-tuning）：針對「當助理」這個任務專門練習</a:t>
            </a:r>
          </a:p>
          <a:p>
            <a:r>
              <a:t>3. RLHF（Reinforcement Learning from Human Feedback）：人類告訴它什麼是好答案、什麼是壞答案，學會避免有害回應</a:t>
            </a:r>
          </a:p>
          <a:p/>
          <a:p>
            <a:r>
              <a:t>這是 ChatGPT、Claude 之類的 chat 模型怎麼煉出來的。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關鍵連結：把幻覺接回前面講的「輪盤+猜字」機制。</a:t>
            </a:r>
          </a:p>
          <a:p/>
          <a:p>
            <a:r>
              <a:t>AI 不是在「回憶事實」（它沒有資料庫），是在「猜下一個最可能的字」。如果它沒看過這個事實，但「聽起來像真的」的字機率高，它就會吐出來——這就是幻覺。</a:t>
            </a:r>
          </a:p>
          <a:p/>
          <a:p>
            <a:r>
              <a:t>實驗：用一個 AI 不太熟的台灣史問題（1920 雲林農民組合抗議），測四家 AI，看誰會編、誰會老實說「不確定」。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觀察四家 AI 的差異：通常會看到「四個 AI 給你四個版本的歷史」。</a:t>
            </a:r>
          </a:p>
          <a:p/>
          <a:p>
            <a:r>
              <a:t>關鍵警告：「大學教授一年看幾千份學習歷程，你掰的他看得出來。」</a:t>
            </a:r>
          </a:p>
          <a:p/>
          <a:p>
            <a:r>
              <a:t>結論：AI 不是知識庫，是語言模型——所以才需要 NotebookLM 這種「有餵資料、有出處」的工具。</a:t>
            </a:r>
          </a:p>
          <a:p/>
          <a:p>
            <a:r>
              <a:t>這也是把整場工作坊收回主線：為什麼一定要從 NotebookLM 開始而不是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另一條紅線：什麼東西不該丟雲端。</a:t>
            </a:r>
          </a:p>
          <a:p/>
          <a:p>
            <a:r>
              <a:t>理論上，你打進去的每個字都離開了你的電腦——進了 OpenAI/Anthropic/Google 的伺服器。</a:t>
            </a:r>
          </a:p>
          <a:p>
            <a:r>
              <a:t>- 不要丟：日記、感情、家裡狀況、同學個資、輔導紀錄、未公開的競賽作品</a:t>
            </a:r>
          </a:p>
          <a:p>
            <a:r>
              <a:t>- 進階解法（點到為止）：本機 AI（如 ollama + 開源模型）跑在自己筆電上，資料不外流</a:t>
            </a:r>
          </a:p>
          <a:p/>
          <a:p>
            <a:r>
              <a:t>判準：「這段話如果被截圖貼到網路上，我會崩潰嗎？」會 → 別丟雲端。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把今天做的東西全部攤開——全部圍繞同一主題：「為什麼是雲林？」</a:t>
            </a:r>
          </a:p>
          <a:p/>
          <a:p>
            <a:r>
              <a:t>三小時前學生還在煩惱學習歷程怎麼寫，現在手上有 Word + 簡報，可能還有互動網頁。</a:t>
            </a:r>
          </a:p>
          <a:p/>
          <a:p>
            <a:r>
              <a:t>這就是 Lv.3 的成果——三小時用 AI 做出別人三週才做得出的成品。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揭曉老師事先用「為什麼是雲林？」這題跑完整套流程的成品：</a:t>
            </a:r>
          </a:p>
          <a:p>
            <a:r>
              <a:t>- 互動時間軸（HTML）：用 Claude Code 做的，可以放進學習歷程「自主學習」</a:t>
            </a:r>
          </a:p>
          <a:p>
            <a:r>
              <a:t>- 小論文 Word：Step 3+4 定稿</a:t>
            </a:r>
          </a:p>
          <a:p>
            <a:r>
              <a:t>- Gamma 簡報：Step 5 路徑 A，視覺強</a:t>
            </a:r>
          </a:p>
          <a:p>
            <a:r>
              <a:t>- Claude 簡報：Step 5 路徑 B，可對照兩種風格</a:t>
            </a:r>
          </a:p>
          <a:p/>
          <a:p>
            <a:r>
              <a:t>教學策略選擇：可以開場就揭露當動機；或保留到結尾再揭露當對照。</a:t>
            </a:r>
          </a:p>
          <a:p/>
          <a:p>
            <a:r>
              <a:t>學生可從工作坊網頁下載這四份示範檔案參考。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收尾的三個觀念：</a:t>
            </a:r>
          </a:p>
          <a:p/>
          <a:p>
            <a:r>
              <a:t>1. AI 幫你加速，不是幫你代寫——掛名的是你（責任感）</a:t>
            </a:r>
          </a:p>
          <a:p>
            <a:r>
              <a:t>2. 好 prompt 比好工具重要——你給 AI 多少「你的樣子」（駕馭能力）</a:t>
            </a:r>
          </a:p>
          <a:p>
            <a:r>
              <a:t>3. 一定要自己檢查——四個 AI 可能給你四個版本的歷史（批判思考）</a:t>
            </a:r>
          </a:p>
          <a:p/>
          <a:p>
            <a:r>
              <a:t>下一步：今天教的是 Lv.1→Lv.3，Lv.4 正在發生（2026 起）。</a:t>
            </a:r>
          </a:p>
          <a:p>
            <a:r>
              <a:t>回家作業（給有興趣的人）：去看一下 Anthropic Skills、ChatGPT Custom GPT，挑一個試試看。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收尾。鼓勵學生：今天學的不是「終點」，是「起點」。</a:t>
            </a:r>
          </a:p>
          <a:p/>
          <a:p>
            <a:r>
              <a:t>最後留 5 分鐘給 Q&amp;A，並提醒：教學網頁有完整文字、素材清單、附錄、四份示範作品下載。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84648" y="1463040"/>
            <a:ext cx="1828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6400" b="1">
                <a:solidFill>
                  <a:srgbClr val="FFFFFF"/>
                </a:solidFill>
                <a:latin typeface="Helvetica Neue"/>
              </a:defRPr>
            </a:pPr>
            <a:r>
              <a:t>和 AI 作朋友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0896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3200" b="0">
                <a:solidFill>
                  <a:srgbClr val="00D2FF"/>
                </a:solidFill>
                <a:latin typeface="Helvetica Neue"/>
              </a:defRPr>
            </a:pPr>
            <a:r>
              <a:t>高中生的 AI 工具箱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0">
                <a:solidFill>
                  <a:srgbClr val="9999AA"/>
                </a:solidFill>
                <a:latin typeface="Helvetica Neue"/>
              </a:defRPr>
            </a:pPr>
            <a:r>
              <a:t>顏永進  ｜  2026.04.30  ｜  雲林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4937760"/>
            <a:ext cx="1371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5486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0">
                <a:solidFill>
                  <a:srgbClr val="9999AA"/>
                </a:solidFill>
                <a:latin typeface="Helvetica Neue"/>
              </a:defRPr>
            </a:pPr>
            <a:r>
              <a:t>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00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5212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is.gd/1rLH3E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4937760"/>
            <a:ext cx="1371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5486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0">
                <a:solidFill>
                  <a:srgbClr val="9999AA"/>
                </a:solidFill>
                <a:latin typeface="Helvetica Neue"/>
              </a:defRPr>
            </a:pPr>
            <a:r>
              <a:t>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6400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教學網頁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5212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is.gd/tENFQN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今天要做什麼？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很多人以為 AI 是「幫你寫東西」——真正厲害的是「讓 AI 幫你做事情」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三小時練「交辦」，做出一份真的可以上傳的台灣史學習歷程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00D2FF"/>
                </a:solidFill>
                <a:latin typeface="Helvetica Neue"/>
              </a:defRPr>
            </a:pPr>
            <a:r>
              <a:t>主題：為什麼日本人選雲林蓋糖廠？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2044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520440"/>
            <a:ext cx="6350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3931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NotebookLM 消化糖業史料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63931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含出處的研究筆記（Word）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63500" cy="5029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336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Napkin 畫概念圖 + Claude 生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42336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小論文 .docx 初稿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70916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709160"/>
            <a:ext cx="63500" cy="50292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4ECB71"/>
                </a:solidFill>
                <a:latin typeface="Helvetica Neue"/>
              </a:defRPr>
            </a:pPr>
            <a:r>
              <a:t>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280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ChatGPT 當教練改反思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8280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有深度的反思，回 Word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0352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5303520"/>
            <a:ext cx="63500" cy="50292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949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AA33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42239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Gamma 或 Claude 做投影片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42239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學習歷程簡報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89788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5897880"/>
            <a:ext cx="63500" cy="50292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98932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創造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1675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（加分）AI Agent 做網頁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01675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糖業史時間軸網站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使用的五個層次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大部分人卡在 Lv.1，所以寫出來的東西又累又像罐頭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6350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Lv.1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963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問答機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4203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prompt → copy → paste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54203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ChatGPT 網頁版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90672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90672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954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AA33"/>
                </a:solidFill>
                <a:latin typeface="Helvetica Neue"/>
              </a:defRPr>
            </a:pPr>
            <a:r>
              <a:t>Lv.2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0954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整合工作流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5526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直接嵌在你的工具裡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5526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Copilot、NotebookLM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803904"/>
            <a:ext cx="10515600" cy="594360"/>
          </a:xfrm>
          <a:prstGeom prst="rect">
            <a:avLst/>
          </a:prstGeom>
          <a:solidFill>
            <a:srgbClr val="2E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803904"/>
            <a:ext cx="635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2277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Lv.3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92277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AI Agent（初級助理）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968496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自己規劃步驟、操作電腦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96849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Claude Code、Gemini CLI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392277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517136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517136"/>
            <a:ext cx="63500" cy="5943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3600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4ECB71"/>
                </a:solidFill>
                <a:latin typeface="Helvetica Neue"/>
              </a:defRPr>
            </a:pPr>
            <a:r>
              <a:t>Lv.4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636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進階助理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8172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你規劃步驟，AI 幫你操作電腦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68172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Claude Code / CLIo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230368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230368"/>
            <a:ext cx="63500" cy="59436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349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Lv.5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349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專屬助理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394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幫你規劃步驟，幫你操作電腦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53949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OpenClaw、Hermes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4ECB71"/>
                </a:solidFill>
                <a:latin typeface="Helvetica Neue"/>
              </a:defRPr>
            </a:pPr>
            <a:r>
              <a:t>今天直接跳到 Lv.3，並在收尾「點到」Lv.4——你要學的不是工具，是怎麼跟 AI 一起長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NotebookLM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餵素材、問問題、產出研究筆記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先看 Lv.1 的限制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打開 ChatGPT，直接問：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63500" cy="914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「日本人為什麼選擇在雲林虎尾蓋糖廠？」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ChatGPT 給你看起來不錯的答案，但：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23360"/>
            <a:ext cx="100584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可能混入不正確的細節（幻覺）</a:t>
            </a:r>
          </a:p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不會提到「戊戌大水災」這個關鍵事件</a:t>
            </a:r>
          </a:p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沒有引用來源——你不知道哪句是真的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4360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5943600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126480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這就是 Lv.1 的極限——給答案，但無法驗證。換 Lv.2。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NotebookLM 怎麼用？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上傳素材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defRPr sz="1700" b="0">
                <a:solidFill>
                  <a:srgbClr val="BBBBCC"/>
                </a:solidFill>
                <a:latin typeface="Helvetica Neue"/>
              </a:defRPr>
            </a:pPr>
            <a:r>
              <a:t>把四份糖業史料 PDF 上傳到 NotebookLM</a:t>
            </a:r>
            <a:br/>
            <a:br/>
            <a:r>
              <a:t>素材清單見教學網頁底部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依序問四個問題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2120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大方向：為什麼選雲林虎尾？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追細節：戊戌大水災跟糖廠的關係？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比較：虎尾 vs. 橋頭有什麼不同？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切入：「為什麼是雲林？」大綱怎麼寫？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最後一步：請它幫你打包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問完所有問題後，貼這段指令：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515600" cy="24688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63500" cy="24688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149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請把我們剛才所有對話整合成一份「研究筆記」，格式：</a:t>
            </a:r>
            <a:br/>
            <a:br/>
            <a:r>
              <a:t>一、研究問題     二、關鍵發現（每點標明出處）</a:t>
            </a:r>
            <a:br/>
            <a:r>
              <a:t>三、比較分析     四、建議大綱</a:t>
            </a:r>
            <a:br/>
            <a:r>
              <a:t>五、參考資料清單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1206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12064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這份研究筆記就是接下來寫小論文的全部素材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匯出成 Word 檔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NotebookLM 不適合生成正式文件，但「文獻整合 + 出處標註」很強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5212080" cy="25603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5212080" cy="635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1. 點「儲存到記事」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在剛才的回答底下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560320"/>
            <a:ext cx="5212080" cy="25603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560320"/>
            <a:ext cx="5212080" cy="635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9260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2. 工作室 → 匯出至文件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拿到一份 .docx Word 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486400"/>
            <a:ext cx="63500" cy="914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6928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拿到 .docx → 下一步上傳給 Claude 寫小論文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6B6B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Napkin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把文字變成概念結構圖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Napkin——畫一張概念結構圖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好的小論文核心不只是文字——是「概念結構」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把研究筆記裡的五個關鍵因素貼進 napkin.ai：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10515600" cy="24688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63500" cy="24688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149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日本選擇在雲林虎尾設立糖廠的原因：</a:t>
            </a:r>
            <a:br/>
            <a:r>
              <a:t>1. 天災：1897 戊戌大水災沖出大量溪埔地</a:t>
            </a:r>
            <a:br/>
            <a:r>
              <a:t>2. 自然：雲林平原日照充足、雨量適中</a:t>
            </a:r>
            <a:br/>
            <a:r>
              <a:t>3. 政策：1902 糖業獎勵規則</a:t>
            </a:r>
            <a:br/>
            <a:r>
              <a:t>4. 企業家：鈴木藤三郎，1906 年設廠</a:t>
            </a:r>
            <a:br/>
            <a:r>
              <a:t>5. 國家需求：日俄戰爭後日本需糖自給自足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→ Napkin 自動生成因果圖 → 下載備用，下一步餵給 Claude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生成小論文 Word 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Claude——生成 Word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打開 claude.ai（免費帳號），依序操作：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468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貼上小論文格式規範（見教學網頁附錄）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15468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上傳 Step 1 NotebookLM 匯出的 Word 檔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023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上傳 Step 2 Napkin 因果關係圖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70916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800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指令：「整理成小論文，輸出 Word（含篇名、作者、大綱、引註）」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Claude 生成 Artifact → 點「下載」→ 拿到 .docx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下載後一定要做的事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換成你的口吻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教授看得出 AI 味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28600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檢查事實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人名、年份、事件——AI 會編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28600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反思先留著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下一步會改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ChatGPT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用 AI 當教練改反思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Prompt 三招：給角色、給範例、給限制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3500" cy="7772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✗  爛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「幫我寫一段學習歷程反思」  →  罐頭、流水帳，沒有你的影子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97480"/>
            <a:ext cx="63500" cy="1828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✓  好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FFFFFF"/>
                </a:solidFill>
                <a:latin typeface="Helvetica Neue"/>
              </a:defRPr>
            </a:pPr>
            <a:r>
              <a:t>我住雲林，常經過虎尾糖廠，以前只覺得是老地方。研究後才知道日本人選雲林不是巧合，是一場水災沖出了空地。幫我用「從不在意到驚訝」的轉變寫反思，像高中生寫的，300 字以內。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75488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1. 角色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住雲林的高中生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475488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2. 範例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從「不在意」到「驚訝」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475488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3. 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300 字、高中生口吻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1">
                <a:solidFill>
                  <a:srgbClr val="00D2FF"/>
                </a:solidFill>
                <a:latin typeface="Helvetica Neue"/>
              </a:defRPr>
            </a:pPr>
            <a:r>
              <a:t>你給 AI 多少「你的樣子」，它就回給你多少「你的樣子」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用 AI 改，不是用 AI 寫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拿到初稿後，繼續用 AI 當教練：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777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「這段反思沒有連結到研究問題，幫我指出哪裡可以改。」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3756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337560"/>
            <a:ext cx="63500" cy="77724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「給我三種角度：學到什麼 / 對家鄉看法改變 / 還想探索什麼」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9768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805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「這句話怎麼改更有力？」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48640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63500" cy="8686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6928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至少來回三輪。AI 是逼你想清楚的教練，不是幫你寫的槍手。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改完反思，貼回 Claude 統一風格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反思改好後，回到 Step 3 的 Claude 對話框：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這是我改寫過的反思段落：[貼上]</a:t>
            </a:r>
            <a:br/>
            <a:br/>
            <a:r>
              <a:t>請把它整合進剛才的小論文，並確保整篇風格一致。</a:t>
            </a:r>
            <a:br/>
            <a:r>
              <a:t>重新輸出 Word 檔。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937760"/>
            <a:ext cx="63500" cy="13716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↓  最後一步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4068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下載最新版 Word——</a:t>
            </a:r>
            <a:br/>
            <a:r>
              <a:t>這時候才真正算是「你的」學習歷程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做簡報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Gamma——做簡報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把 Word 內容貼進 gamma.app，輸入：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18288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高中歷史課程學習成果報告簡報。</a:t>
            </a:r>
            <a:br/>
            <a:r>
              <a:t>標題：（你的題目）</a:t>
            </a:r>
            <a:br/>
            <a:r>
              <a:t>一、研究動機  二、研究發現  三、學習反思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→ 30 秒生成簡報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→ 記得刪掉 AI 亂加的內容、補上自己的話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也可以用 claude.ai 直接生成 .pptx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進階：AI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讓你的學習歷程跟隔壁不一樣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互動時間軸網頁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用 Claude Code 或 Gemini CLI，一句話下指令：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10515600" cy="1645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63500" cy="1645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把這份雲林糖業報告做成一個互動時間軸網站：</a:t>
            </a:r>
            <a:br/>
            <a:r>
              <a:t>1906 大日本製糖設廠 → 1924 日搾量東洋第一 →</a:t>
            </a:r>
            <a:br/>
            <a:r>
              <a:t>1945 戰後台糖接收 → 2000s 轉型文創園區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→ AI 自己建檔案 → 寫 HTML/CSS/JS → 跑起來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→ 追加：「加一個三題的選擇題小測驗」→ AI 自己改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5778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57784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互動網頁連結放進學習歷程——審查委員會記得你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封面視覺：Ideogram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用 ideogram.ai 生成封面圖：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63500" cy="13716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149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「日治時期台灣糖廠，五分車鐵道，甘蔗田，復古海報風格」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Ideogram 特別擅長有文字標語的海報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63500" cy="13716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🚩  紅線提醒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3212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最後一關永遠是你——</a:t>
            </a:r>
            <a:br/>
            <a:r>
              <a:t>AI 交成品，掛名的是你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揭開黑盒子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AI 怎麼辦到的？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輸入 → 函數 → 輸出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的本質是「函數」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國中數學學過：輸入一個值 → 經過規則 → 得到輸出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13716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FFFFFF"/>
                </a:solidFill>
                <a:latin typeface="Helvetica Neue"/>
              </a:defRPr>
            </a:pPr>
            <a:r>
              <a:t>華氏溫度  =  1.8  ×  攝氏溫度  + 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寫成 y = f(x)——黑盒子裡有兩個參數（1.8、32），輸入攝氏，算出華氏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21208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212080"/>
            <a:ext cx="63500" cy="914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AI 做的事情一模一樣——只是函數複雜得多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例子 1：學測落點預測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輸入：學測成績組合     輸出：可能錄取的大學機率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1945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1945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f(x) = 國文 × 0.3</a:t>
            </a:r>
            <a:br/>
            <a:r>
              <a:t>        + 英文 × 0.25</a:t>
            </a:r>
            <a:br/>
            <a:r>
              <a:t>        + 數學 × 0.35</a:t>
            </a:r>
            <a:br/>
            <a:r>
              <a:t>        + 社會 × 0.05</a:t>
            </a:r>
            <a:br/>
            <a:r>
              <a:t>        + 自然 ×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實際上更複雜（志願、歷年分布、加權…），但原理一樣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57784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577840"/>
            <a:ext cx="63500" cy="8686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原理：輸入 → 函數 → 輸出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例子 2：手寫數字辨識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輸入 28×28 個小數（每個像素的亮度），輸出 0–9 的機率：</a:t>
            </a:r>
          </a:p>
        </p:txBody>
      </p:sp>
      <p:pic>
        <p:nvPicPr>
          <p:cNvPr id="5" name="Picture 4" descr="04-digit5-pix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5212080" cy="3108960"/>
          </a:xfrm>
          <a:prstGeom prst="rect">
            <a:avLst/>
          </a:prstGeom>
        </p:spPr>
      </p:pic>
      <p:pic>
        <p:nvPicPr>
          <p:cNvPr id="6" name="Picture 5" descr="04-digit5-pr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77440"/>
            <a:ext cx="5212080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AI 看到的不是「5」，是一堆數字；輸出的不是「答案」，是一堆機率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能做什麼？都是函數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828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輸出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31720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手寫辨識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4505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一張圖片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5059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4505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0–9 各數字的機率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79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4495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貓狗辨識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0449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一張照片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04495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044951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貓 90%、狗 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520439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3931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文字生成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63931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一段提示詞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3931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639311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生成的文字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33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影像生成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2336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一段描述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2336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2336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生成的圖片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303520"/>
            <a:ext cx="10515600" cy="12801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303520"/>
            <a:ext cx="63500" cy="12801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86400"/>
            <a:ext cx="10149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不管多厲害，骨子裡都是：輸入 → 函數 → 輸出</a:t>
            </a:r>
            <a:br/>
            <a:r>
              <a:t>差別只在於函數裡有幾千億個參數（GPT-4 超過一兆）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生成式 AI 是「會接龍的函數」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每次只猜下一個字，再把輸出接回輸入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7432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743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f("什麼是臺灣最美的風景？")           →  臺</a:t>
            </a:r>
            <a:br/>
            <a:r>
              <a:t>f("什麼是臺灣最美的風景？臺")         →  灣</a:t>
            </a:r>
            <a:br/>
            <a:r>
              <a:t>f("什麼是臺灣最美的風景？臺灣")       →  最</a:t>
            </a:r>
            <a:br/>
            <a:r>
              <a:t>f("什麼是臺灣最美的風景？臺灣最")     →  美</a:t>
            </a:r>
            <a:br/>
            <a:r>
              <a:t>   ……</a:t>
            </a:r>
            <a:br/>
            <a:r>
              <a:t>f("什麼是臺灣最美的風景？臺灣最美的風景是")  →  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就像 LINE 鍵盤自動建議下一個字——AI 做一樣的事，只是猜得非常準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為什麼同一題會得到不同答案？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不是每次都選機率最高的字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像轉「輪盤」——機率高的容易中，但不是一定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63500" cy="2286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AA33"/>
                </a:solidFill>
                <a:latin typeface="Helvetica Neue"/>
              </a:defRPr>
            </a:pPr>
            <a:r>
              <a:t>🌡  溫度參數（Temperature）控制隨機性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149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溫度低 → 回答比較固定</a:t>
            </a:r>
            <a:br/>
            <a:br/>
            <a:r>
              <a:t>溫度高 → 回答有創意，但比較容易出錯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1">
                <a:solidFill>
                  <a:srgbClr val="00D2FF"/>
                </a:solidFill>
                <a:latin typeface="Helvetica Neue"/>
              </a:defRPr>
            </a:pPr>
            <a:r>
              <a:t>→ 這個「猜字 + 輪盤」也是幻覺的根源（下張揭曉）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Token：AI 眼中的世界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看到的不是文字，是 Token（碎片）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00D2FF"/>
                </a:solidFill>
                <a:latin typeface="Helvetica Neue"/>
              </a:defRPr>
            </a:pPr>
            <a:r>
              <a:t>打開 platform.openai.com/tokenizer 試試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0149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輸入「虎尾糖廠」  →  看它被切成幾個 token</a:t>
            </a:r>
            <a:br/>
            <a:r>
              <a:t>▸  輸入「314159」  →  數字的切法跟你想的完全不一樣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這就是為什麼 AI 有時候數學會算錯——它看到的不是數字，是碎片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怎麼被訓練出來的？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3383280" cy="38404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5600" b="1">
                <a:solidFill>
                  <a:srgbClr val="00D2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預訓練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讀了整個網路的文字</a:t>
            </a:r>
            <a:br/>
            <a:r>
              <a:t>→ 學會語言模式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03120"/>
            <a:ext cx="3383280" cy="38404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4688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5600" b="1">
                <a:solidFill>
                  <a:srgbClr val="FFAA33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9319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微調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466344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針對任務練習</a:t>
            </a:r>
            <a:br/>
            <a:r>
              <a:t>→ 學會當助理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103120"/>
            <a:ext cx="3383280" cy="38404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24688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5600" b="1">
                <a:solidFill>
                  <a:srgbClr val="4ECB71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9319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RLHF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66344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人類回饋好壞</a:t>
            </a:r>
            <a:br/>
            <a:r>
              <a:t>→ 學會避免有害回應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幻覺——AI 也會騙你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AI 有時候會一本正經地「編故事」，這叫幻覺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1828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AA33"/>
                </a:solidFill>
                <a:latin typeface="Helvetica Neue"/>
              </a:defRPr>
            </a:pPr>
            <a:r>
              <a:t>❓  為什麼會有幻覺？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還記得剛才的「輪盤」嗎？AI 不是在「回憶事實」，是在「猜下一個最可能的字」——它沒辦法分辨「真的」跟「聽起來像真的」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57200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63500" cy="1828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實驗：用同一個問題測四個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分別打開 ChatGPT、Claude、Gemini、Grok，貼上完全相同的問題：</a:t>
            </a:r>
            <a:br/>
            <a:r>
              <a:t>「請描述 1920 年雲林農民組合抗議虎尾糖廠壓低甘蔗收購價格的經過」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觀察重點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四個 AI 講的是同一件事嗎？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有沒有 AI 承認「我不確定」？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跟 NotebookLM 的素材比對——哪些是真的？哪些是編的？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976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63500" cy="1828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AI 不是知識庫，是語言模型。</a:t>
            </a:r>
            <a:br/>
            <a:r>
              <a:t>所以才需要 NotebookLM——有出處的回答才可信。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什麼東西不該丟給 AI？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你打進去的每一個字，都會離開你的電腦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512064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3200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不要丟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47548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日記、心情、家裡狀況</a:t>
            </a:r>
            <a:br/>
            <a:br/>
            <a:r>
              <a:t>▸  同學個資、輔導紀錄</a:t>
            </a:r>
            <a:br/>
            <a:br/>
            <a:r>
              <a:t>▸  未公開的競賽作品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468880"/>
            <a:ext cx="512064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468880"/>
            <a:ext cx="63500" cy="3200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560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判準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971800"/>
            <a:ext cx="47548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「這段話被截圖貼到網路上，</a:t>
            </a:r>
            <a:br/>
            <a:r>
              <a:t>我會崩潰嗎？」</a:t>
            </a:r>
            <a:br/>
            <a:br/>
            <a:r>
              <a:t>會  →  別丟雲端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你現在手上有什麼？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8308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635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920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NotebookLM 研究筆記（Word 匯出）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96312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496312"/>
            <a:ext cx="6350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151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6B6B"/>
                </a:solidFill>
                <a:latin typeface="Helvetica Neue"/>
              </a:defRPr>
            </a:pPr>
            <a:r>
              <a:t>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Napkin 因果圖 + Claude 小論文 Word 初稿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09544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209544"/>
            <a:ext cx="63500" cy="5943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284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3467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來回三輪改出來的反思，更新進 Word 完成定稿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922776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922776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416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05993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Gamma 或 Claude 生成的報告簡報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636008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636008"/>
            <a:ext cx="63500" cy="59436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創造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7731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（加分）互動時間軸網頁 + Ideogram 封面圖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57784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577840"/>
            <a:ext cx="63500" cy="8686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6072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三小時前你還在煩惱學習歷程——現在你手上有 Word + 簡報，可能還有互動網頁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老師示範：跑完流程長這樣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以「為什麼是雲林？」為題跑完整套流程，產出：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52120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⏱  互動時間軸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虎尾糖廠時間軸.html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37744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377440"/>
            <a:ext cx="52120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📄  小論文 Word 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3 + 4 定稿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931920"/>
            <a:ext cx="52120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605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🎞  Gamma 簡報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5 路徑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93192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5212080" cy="508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🎞  Claude 簡報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5 路徑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60720"/>
            <a:ext cx="10515600" cy="6400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760720"/>
            <a:ext cx="63500" cy="6400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三小時後，你手上也會有類似的東西——而且是你自己選的題目、你自己的口吻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三個帶走的觀念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3500" cy="1188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103120"/>
            <a:ext cx="640080" cy="6400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0116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幫你加速，不是幫你代寫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514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最後掛名的是你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4612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246120"/>
            <a:ext cx="63500" cy="118872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3520440"/>
            <a:ext cx="640080" cy="64008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429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好 prompt 比好工具重要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931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你給 AI 多少「你的樣子」，它就回給你多少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663440"/>
            <a:ext cx="63500" cy="118872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4937760"/>
            <a:ext cx="640080" cy="64008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463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一定要自己檢查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349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四個 AI 可能給你四個版本的「歷史」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84648" y="2560320"/>
            <a:ext cx="1828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7200" b="1">
                <a:solidFill>
                  <a:srgbClr val="FFFFFF"/>
                </a:solidFill>
                <a:latin typeface="Helvetica Neue"/>
              </a:defRPr>
            </a:pPr>
            <a:r>
              <a:t>謝謝！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0">
                <a:solidFill>
                  <a:srgbClr val="00D2FF"/>
                </a:solidFill>
                <a:latin typeface="Helvetica Neue"/>
              </a:defRPr>
            </a:pPr>
            <a:r>
              <a:t>現在開始跟 AI 作朋友吧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教學網頁：letranger.github.io/2026-04-30-AI-work/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